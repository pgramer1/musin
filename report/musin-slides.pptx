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1ab835d-0048-b223-e959-e28f71a3c50e}">
          <p14:sldIdLst>
            <p14:sldId id="256"/>
          </p14:sldIdLst>
        </p14:section>
        <p14:section name="Literature review" id="{d63747c4-e92b-f0da-2150-67febb470589}">
          <p14:sldIdLst>
            <p14:sldId id="257"/>
          </p14:sldIdLst>
        </p14:section>
        <p14:section name="Methodology" id="{74feeeff-ab6b-85b5-45b0-aa1b667aafff}">
          <p14:sldIdLst>
            <p14:sldId id="258"/>
          </p14:sldIdLst>
        </p14:section>
        <p14:section name="Working model" id="{9f00fa0f-346b-fd8d-bb30-7bc8e665c76d}">
          <p14:sldIdLst>
            <p14:sldId id="259"/>
          </p14:sldIdLst>
        </p14:section>
        <p14:section name="Conclusion" id="{395c6406-702e-0ee8-0875-e31314e00639}">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Genres are usually studied one artist at a time, but music is made together: rappers feature singers, producers work across scenes, session players appear on country and jazz records. A collaboration graph shows who connects scenes that would otherwise be separate. MusicBrainz is the largest open music database and records exactly that: who is billed, who is featured, who produced or played. But it is relational, large and noisy, so turning it into a graph we can trust was half the work. We asked four questions: which artists bridge genres, whether collaboration communities match genres, whether cross-genre collaboration has grown over the decades, and who is most central and whether the measures agree. And we processed the complete export, not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Collaboration networks are a classic object of network science, starting with scientific co-authorship (Newman 2001). For music, Gleiser and Danon studied jazz musicians who played in the same bands and found communities that follow recording location and racial segregation. Park and colleagues built a network of contemporary popular musicians from an online music guide. Bryan and Wang ranked influence in a sampling network from WhoSampled and found funk, soul and disco behind hip hop, R&amp;B and electronic music. These studies work with curated or crawled data at the scale of thousands of artists. Our step: the complete open MusicBrainz export, about a million artists, with typed credits including producers and performers, and a bridge score that measures genre bridging directly. Our methods build on Louvain, PageRank, betweenness and NMI/AMI. Full references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pipeline has four stages. We download the full MusicBrainz export: 40.5 million recordings and 3 million artists. PySpark turns the headerless database dump into typed Parquet, cleans it, and builds the graph in layers: raw, clean, graph. Neo4j with the Graph Data Science library holds the final graph of 1.14 million artists and 3.08 million edges and runs the algorithms; every figure and table in the report is generated by code. The graph has four edge types, from billing credits and from producer and performer credits; the weight is the number of shared recordings. We filter placeholder artists like Various Artists, credits with more than ten artists, groups linked to their own members, and Character and classical artists, which we analyse separately as sensitivity graphs. For each question we defined a metric in advance: for bridges, genre diversity times betweenness percentile; for communities, Louvain compared with genre by NMI and AMI; for trends, the cross-genre and featuring shares per decade; for centrality, three measures and their agreement. We validated against 15 artists we listed before looking at any result, and benchmarked Spark scaling and PageRank in three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play the video. The demo runs eight saved queries in the Neo4j Browser on the full graph. First the overview: 1.1 million artists and four kinds of collaboration. Then the top genre bridges; the first one, Putumayo, is a record label credited as an artist, a data artefact we discuss in the report. Then Ry Cooder, rock by tag, whose partners come from 11 genres: blues, jazz, country, latin and more; and his ego network, coloured by genre. Then degrees of separation: Frank Sinatra to Snoop Dogg in two hops, via Stevie Wonder. Then the three centrality measures, whose top tens barely overlap. Finally the largest community: hip hop with electronic producers, a scene rather than a genre. To insert the recording: Insert › Video › This Device, then resize it over the dashed frame and delete the frame; record it following docs/features/F6.2-demo.md,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Our answers. Bridges: three quarters of labelled collaboration stays within one genre, and the artists who bridge genres are mostly producers, session players and world musicians. Communities: they are strong and stable, but they are scenes defined by place and era as much as by genre; agreement with genre is low, AMI 0.186. Trends: the cross-genre share rose from 16 to 28 percent between the 1960s and the 2020s, and featuring credits took off in the 1990s. Centrality: the measures agree overall but almost not at the top. On architecture: Spark builds the full graph from the parsed credits in about six and a half minutes on eight cores, and a graph engine runs PageRank 123 times faster than Spark's graph library with the same result. Limits: only 22 percent of artists have a genre, audiobooks are still in the graph, and everything ran on one laptop.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512064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703320"/>
            <a:ext cx="512064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2331720"/>
            <a:ext cx="512064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BIG DATA ANALYTICS · SEMESTER PROJECT</a:t>
            </a:r>
            <a:endParaRPr lang="en-US" sz="1400" dirty="0"/>
          </a:p>
        </p:txBody>
      </p:sp>
      <p:sp>
        <p:nvSpPr>
          <p:cNvPr id="3" name="Text 0"/>
          <p:cNvSpPr/>
          <p:nvPr>
            <p:ph idx="100" type="title" hasCustomPrompt="1"/>
          </p:nvPr>
        </p:nvSpPr>
        <p:spPr>
          <a:xfrm>
            <a:off x="548640" y="1828800"/>
            <a:ext cx="5120640" cy="1737360"/>
          </a:xfrm>
          <a:prstGeom prst="rect">
            <a:avLst/>
          </a:prstGeom>
          <a:noFill/>
          <a:ln/>
        </p:spPr>
        <p:txBody>
          <a:bodyPr wrap="square" lIns="0" tIns="0" rIns="0" bIns="0" rtlCol="0" anchor="b"/>
          <a:lstStyle/>
          <a:p>
            <a:pPr algn="l" indent="0" marL="0">
              <a:buNone/>
            </a:pPr>
            <a:r>
              <a:rPr lang="en-US" sz="5400" b="1" dirty="0">
                <a:solidFill>
                  <a:schemeClr val="bg1"/>
                </a:solidFill>
              </a:rPr>
              <a:t>Bridging Genres</a:t>
            </a:r>
            <a:endParaRPr lang="en-US" sz="5400" dirty="0"/>
          </a:p>
        </p:txBody>
      </p:sp>
      <p:sp>
        <p:nvSpPr>
          <p:cNvPr id="4" name="Text 0"/>
          <p:cNvSpPr/>
          <p:nvPr>
            <p:ph idx="101" type="body" hasCustomPrompt="1"/>
          </p:nvPr>
        </p:nvSpPr>
        <p:spPr>
          <a:xfrm>
            <a:off x="548640" y="3703320"/>
            <a:ext cx="5120640" cy="1005840"/>
          </a:xfrm>
          <a:prstGeom prst="rect">
            <a:avLst/>
          </a:prstGeom>
          <a:noFill/>
          <a:ln/>
        </p:spPr>
        <p:txBody>
          <a:bodyPr wrap="square" lIns="0" tIns="0" rIns="0" bIns="0" rtlCol="0" anchor="t"/>
          <a:lstStyle/>
          <a:p>
            <a:pPr algn="l" indent="0" marL="0">
              <a:buNone/>
            </a:pPr>
            <a:r>
              <a:rPr lang="en-US" sz="2200" dirty="0">
                <a:solidFill>
                  <a:schemeClr val="bg2"/>
                </a:solidFill>
              </a:rPr>
              <a:t>A big-data analysis of the MusicBrainz collaboration network</a:t>
            </a:r>
            <a:endParaRPr lang="en-US" sz="2200" dirty="0"/>
          </a:p>
          <a:p>
            <a:pPr algn="l" indent="0" marL="0">
              <a:spcBef>
                <a:spcPts val="1400"/>
              </a:spcBef>
              <a:buNone/>
            </a:pPr>
            <a:r>
              <a:rPr lang="en-US" sz="1600" dirty="0">
                <a:solidFill>
                  <a:schemeClr val="bg2"/>
                </a:solidFill>
              </a:rPr>
              <a:t>[Member A] · [Member B]</a:t>
            </a:r>
            <a:endParaRPr lang="en-US" sz="2200" dirty="0"/>
          </a:p>
        </p:txBody>
      </p:sp>
      <p:sp>
        <p:nvSpPr>
          <p:cNvPr id="5" name="Research questions card"/>
          <p:cNvSpPr/>
          <p:nvPr/>
        </p:nvSpPr>
        <p:spPr>
          <a:xfrm>
            <a:off x="6172200" y="1097280"/>
            <a:ext cx="5468112" cy="4526280"/>
          </a:xfrm>
          <a:prstGeom prst="roundRect">
            <a:avLst>
              <a:gd name="adj" fmla="val 2424"/>
            </a:avLst>
          </a:prstGeom>
          <a:solidFill>
            <a:schemeClr val="bg1"/>
          </a:solidFill>
          <a:ln w="12700">
            <a:solidFill>
              <a:schemeClr val="bg1"/>
            </a:solidFill>
            <a:prstDash val="solid"/>
          </a:ln>
        </p:spPr>
      </p:sp>
      <p:sp>
        <p:nvSpPr>
          <p:cNvPr id="6" name="Card heading"/>
          <p:cNvSpPr txBox="1"/>
          <p:nvPr/>
        </p:nvSpPr>
        <p:spPr>
          <a:xfrm>
            <a:off x="6537960" y="1371600"/>
            <a:ext cx="4754880" cy="868680"/>
          </a:xfrm>
          <a:prstGeom prst="rect">
            <a:avLst/>
          </a:prstGeom>
          <a:noFill/>
          <a:ln/>
        </p:spPr>
        <p:txBody>
          <a:bodyPr wrap="square" lIns="0" tIns="0" rIns="0" bIns="0" rtlCol="0" anchor="t"/>
          <a:lstStyle/>
          <a:p>
            <a:pPr indent="0" marL="0">
              <a:buNone/>
            </a:pPr>
            <a:r>
              <a:rPr lang="en-US" sz="2200" b="1" dirty="0">
                <a:solidFill>
                  <a:schemeClr val="tx1"/>
                </a:solidFill>
              </a:rPr>
              <a:t>Music is made together. Who connects the genres?</a:t>
            </a:r>
            <a:endParaRPr lang="en-US" sz="2200" dirty="0"/>
          </a:p>
        </p:txBody>
      </p:sp>
      <p:sp>
        <p:nvSpPr>
          <p:cNvPr id="7" name="Question 1"/>
          <p:cNvSpPr txBox="1"/>
          <p:nvPr/>
        </p:nvSpPr>
        <p:spPr>
          <a:xfrm>
            <a:off x="6537960" y="2377440"/>
            <a:ext cx="4754880" cy="713232"/>
          </a:xfrm>
          <a:prstGeom prst="rect">
            <a:avLst/>
          </a:prstGeom>
          <a:noFill/>
          <a:ln/>
        </p:spPr>
        <p:txBody>
          <a:bodyPr wrap="square" lIns="0" tIns="0" rIns="0" bIns="0" rtlCol="0" anchor="t"/>
          <a:lstStyle/>
          <a:p>
            <a:pPr indent="0" marL="0">
              <a:buNone/>
            </a:pPr>
            <a:r>
              <a:rPr lang="en-US" sz="1600" b="1" dirty="0">
                <a:solidFill>
                  <a:schemeClr val="accent3"/>
                </a:solidFill>
              </a:rPr>
              <a:t>RQ1 Bridges</a:t>
            </a:r>
            <a:endParaRPr lang="en-US" sz="1600" dirty="0"/>
          </a:p>
          <a:p>
            <a:pPr indent="0" marL="0">
              <a:buNone/>
            </a:pPr>
            <a:r>
              <a:rPr lang="en-US" sz="1600" dirty="0">
                <a:solidFill>
                  <a:schemeClr val="tx2"/>
                </a:solidFill>
              </a:rPr>
              <a:t>which artists connect genres?</a:t>
            </a:r>
            <a:endParaRPr lang="en-US" sz="1600" dirty="0"/>
          </a:p>
        </p:txBody>
      </p:sp>
      <p:sp>
        <p:nvSpPr>
          <p:cNvPr id="8" name="Question 2"/>
          <p:cNvSpPr txBox="1"/>
          <p:nvPr/>
        </p:nvSpPr>
        <p:spPr>
          <a:xfrm>
            <a:off x="6537960" y="3154680"/>
            <a:ext cx="4754880" cy="713232"/>
          </a:xfrm>
          <a:prstGeom prst="rect">
            <a:avLst/>
          </a:prstGeom>
          <a:noFill/>
          <a:ln/>
        </p:spPr>
        <p:txBody>
          <a:bodyPr wrap="square" lIns="0" tIns="0" rIns="0" bIns="0" rtlCol="0" anchor="t"/>
          <a:lstStyle/>
          <a:p>
            <a:pPr indent="0" marL="0">
              <a:buNone/>
            </a:pPr>
            <a:r>
              <a:rPr lang="en-US" sz="1600" b="1" dirty="0">
                <a:solidFill>
                  <a:schemeClr val="accent3"/>
                </a:solidFill>
              </a:rPr>
              <a:t>RQ2 Communities</a:t>
            </a:r>
            <a:endParaRPr lang="en-US" sz="1600" dirty="0"/>
          </a:p>
          <a:p>
            <a:pPr indent="0" marL="0">
              <a:buNone/>
            </a:pPr>
            <a:r>
              <a:rPr lang="en-US" sz="1600" dirty="0">
                <a:solidFill>
                  <a:schemeClr val="tx2"/>
                </a:solidFill>
              </a:rPr>
              <a:t>do collaboration communities match genres?</a:t>
            </a:r>
            <a:endParaRPr lang="en-US" sz="1600" dirty="0"/>
          </a:p>
        </p:txBody>
      </p:sp>
      <p:sp>
        <p:nvSpPr>
          <p:cNvPr id="9" name="Question 3"/>
          <p:cNvSpPr txBox="1"/>
          <p:nvPr/>
        </p:nvSpPr>
        <p:spPr>
          <a:xfrm>
            <a:off x="6537960" y="3931920"/>
            <a:ext cx="4754880" cy="713232"/>
          </a:xfrm>
          <a:prstGeom prst="rect">
            <a:avLst/>
          </a:prstGeom>
          <a:noFill/>
          <a:ln/>
        </p:spPr>
        <p:txBody>
          <a:bodyPr wrap="square" lIns="0" tIns="0" rIns="0" bIns="0" rtlCol="0" anchor="t"/>
          <a:lstStyle/>
          <a:p>
            <a:pPr indent="0" marL="0">
              <a:buNone/>
            </a:pPr>
            <a:r>
              <a:rPr lang="en-US" sz="1600" b="1" dirty="0">
                <a:solidFill>
                  <a:schemeClr val="accent3"/>
                </a:solidFill>
              </a:rPr>
              <a:t>RQ3 Trends</a:t>
            </a:r>
            <a:endParaRPr lang="en-US" sz="1600" dirty="0"/>
          </a:p>
          <a:p>
            <a:pPr indent="0" marL="0">
              <a:buNone/>
            </a:pPr>
            <a:r>
              <a:rPr lang="en-US" sz="1600" dirty="0">
                <a:solidFill>
                  <a:schemeClr val="tx2"/>
                </a:solidFill>
              </a:rPr>
              <a:t>has cross-genre collaboration grown?</a:t>
            </a:r>
            <a:endParaRPr lang="en-US" sz="1600" dirty="0"/>
          </a:p>
        </p:txBody>
      </p:sp>
      <p:sp>
        <p:nvSpPr>
          <p:cNvPr id="10" name="Question 4"/>
          <p:cNvSpPr txBox="1"/>
          <p:nvPr/>
        </p:nvSpPr>
        <p:spPr>
          <a:xfrm>
            <a:off x="6537960" y="4709160"/>
            <a:ext cx="4754880" cy="713232"/>
          </a:xfrm>
          <a:prstGeom prst="rect">
            <a:avLst/>
          </a:prstGeom>
          <a:noFill/>
          <a:ln/>
        </p:spPr>
        <p:txBody>
          <a:bodyPr wrap="square" lIns="0" tIns="0" rIns="0" bIns="0" rtlCol="0" anchor="t"/>
          <a:lstStyle/>
          <a:p>
            <a:pPr indent="0" marL="0">
              <a:buNone/>
            </a:pPr>
            <a:r>
              <a:rPr lang="en-US" sz="1600" b="1" dirty="0">
                <a:solidFill>
                  <a:schemeClr val="accent3"/>
                </a:solidFill>
              </a:rPr>
              <a:t>RQ4 Centrality</a:t>
            </a:r>
            <a:endParaRPr lang="en-US" sz="1600" dirty="0"/>
          </a:p>
          <a:p>
            <a:pPr indent="0" marL="0">
              <a:buNone/>
            </a:pPr>
            <a:r>
              <a:rPr lang="en-US" sz="1600" dirty="0">
                <a:solidFill>
                  <a:schemeClr val="tx2"/>
                </a:solidFill>
              </a:rPr>
              <a:t>who is central, and do measures agree?</a:t>
            </a:r>
            <a:endParaRPr lang="en-US" sz="1600" dirty="0"/>
          </a:p>
        </p:txBody>
      </p:sp>
      <p:sp>
        <p:nvSpPr>
          <p:cNvPr id="11" name="Source caption"/>
          <p:cNvSpPr txBox="1"/>
          <p:nvPr/>
        </p:nvSpPr>
        <p:spPr>
          <a:xfrm>
            <a:off x="548640" y="6263640"/>
            <a:ext cx="10362895" cy="274320"/>
          </a:xfrm>
          <a:prstGeom prst="rect">
            <a:avLst/>
          </a:prstGeom>
          <a:noFill/>
          <a:ln/>
        </p:spPr>
        <p:txBody>
          <a:bodyPr wrap="square" lIns="0" tIns="0" rIns="0" bIns="0" rtlCol="0" anchor="ctr"/>
          <a:lstStyle/>
          <a:p>
            <a:pPr indent="0" marL="0">
              <a:buNone/>
            </a:pPr>
            <a:r>
              <a:rPr lang="en-US" sz="1100" dirty="0">
                <a:solidFill>
                  <a:schemeClr val="bg2"/>
                </a:solidFill>
              </a:rPr>
              <a:t>Data: MusicBrainz full export 20261007-002147 (core CC0, tags CC BY-NC-SA 3.0) · MetaBrainz Foundation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Literature review</a:t>
            </a:r>
            <a:endParaRPr lang="en-US" sz="3600" dirty="0"/>
          </a:p>
        </p:txBody>
      </p:sp>
      <p:sp>
        <p:nvSpPr>
          <p:cNvPr id="3" name="Paper 1"/>
          <p:cNvSpPr/>
          <p:nvPr/>
        </p:nvSpPr>
        <p:spPr>
          <a:xfrm>
            <a:off x="548640" y="1371600"/>
            <a:ext cx="3515258" cy="2651760"/>
          </a:xfrm>
          <a:prstGeom prst="roundRect">
            <a:avLst>
              <a:gd name="adj" fmla="val 4138"/>
            </a:avLst>
          </a:prstGeom>
          <a:solidFill>
            <a:schemeClr val="bg2"/>
          </a:solidFill>
          <a:ln w="12700">
            <a:solidFill>
              <a:schemeClr val="bg2"/>
            </a:solidFill>
            <a:prstDash val="solid"/>
          </a:ln>
        </p:spPr>
      </p:sp>
      <p:sp>
        <p:nvSpPr>
          <p:cNvPr id="4" name="Paper 1 text"/>
          <p:cNvSpPr txBox="1"/>
          <p:nvPr/>
        </p:nvSpPr>
        <p:spPr>
          <a:xfrm>
            <a:off x="822960" y="1600200"/>
            <a:ext cx="2966618" cy="2240280"/>
          </a:xfrm>
          <a:prstGeom prst="rect">
            <a:avLst/>
          </a:prstGeom>
          <a:noFill/>
          <a:ln/>
        </p:spPr>
        <p:txBody>
          <a:bodyPr wrap="square" lIns="0" tIns="0" rIns="0" bIns="0" rtlCol="0" anchor="t"/>
          <a:lstStyle/>
          <a:p>
            <a:pPr indent="0" marL="0">
              <a:buNone/>
            </a:pPr>
            <a:r>
              <a:rPr lang="en-US" sz="2000" b="1" dirty="0">
                <a:solidFill>
                  <a:schemeClr val="accent3"/>
                </a:solidFill>
              </a:rPr>
              <a:t>Gleiser &amp; Danon, 2003</a:t>
            </a:r>
            <a:endParaRPr lang="en-US" sz="2000" dirty="0"/>
          </a:p>
          <a:p>
            <a:pPr indent="0" marL="0">
              <a:spcBef>
                <a:spcPts val="800"/>
              </a:spcBef>
              <a:buNone/>
            </a:pPr>
            <a:r>
              <a:rPr lang="en-US" sz="1700" i="1" dirty="0">
                <a:solidFill>
                  <a:schemeClr val="tx1"/>
                </a:solidFill>
              </a:rPr>
              <a:t>Community structure in jazz</a:t>
            </a:r>
            <a:endParaRPr lang="en-US" sz="2000" dirty="0"/>
          </a:p>
          <a:p>
            <a:pPr indent="0" marL="0">
              <a:spcBef>
                <a:spcPts val="1000"/>
              </a:spcBef>
              <a:buNone/>
            </a:pPr>
            <a:r>
              <a:rPr lang="en-US" sz="1600" dirty="0">
                <a:solidFill>
                  <a:schemeClr val="tx2"/>
                </a:solidFill>
              </a:rPr>
              <a:t>Jazz musicians who played in the same bands form communities that reflect recording location and racial segregation.</a:t>
            </a:r>
            <a:endParaRPr lang="en-US" sz="2000" dirty="0"/>
          </a:p>
        </p:txBody>
      </p:sp>
      <p:sp>
        <p:nvSpPr>
          <p:cNvPr id="5" name="Paper 2"/>
          <p:cNvSpPr/>
          <p:nvPr/>
        </p:nvSpPr>
        <p:spPr>
          <a:xfrm>
            <a:off x="4338218" y="1371600"/>
            <a:ext cx="3515258" cy="2651760"/>
          </a:xfrm>
          <a:prstGeom prst="roundRect">
            <a:avLst>
              <a:gd name="adj" fmla="val 4138"/>
            </a:avLst>
          </a:prstGeom>
          <a:solidFill>
            <a:schemeClr val="bg2"/>
          </a:solidFill>
          <a:ln w="12700">
            <a:solidFill>
              <a:schemeClr val="bg2"/>
            </a:solidFill>
            <a:prstDash val="solid"/>
          </a:ln>
        </p:spPr>
      </p:sp>
      <p:sp>
        <p:nvSpPr>
          <p:cNvPr id="6" name="Paper 2 text"/>
          <p:cNvSpPr txBox="1"/>
          <p:nvPr/>
        </p:nvSpPr>
        <p:spPr>
          <a:xfrm>
            <a:off x="4612538" y="1600200"/>
            <a:ext cx="2966618" cy="2240280"/>
          </a:xfrm>
          <a:prstGeom prst="rect">
            <a:avLst/>
          </a:prstGeom>
          <a:noFill/>
          <a:ln/>
        </p:spPr>
        <p:txBody>
          <a:bodyPr wrap="square" lIns="0" tIns="0" rIns="0" bIns="0" rtlCol="0" anchor="t"/>
          <a:lstStyle/>
          <a:p>
            <a:pPr indent="0" marL="0">
              <a:buNone/>
            </a:pPr>
            <a:r>
              <a:rPr lang="en-US" sz="2000" b="1" dirty="0">
                <a:solidFill>
                  <a:schemeClr val="accent3"/>
                </a:solidFill>
              </a:rPr>
              <a:t>Park et al., 2007</a:t>
            </a:r>
            <a:endParaRPr lang="en-US" sz="2000" dirty="0"/>
          </a:p>
          <a:p>
            <a:pPr indent="0" marL="0">
              <a:spcBef>
                <a:spcPts val="800"/>
              </a:spcBef>
              <a:buNone/>
            </a:pPr>
            <a:r>
              <a:rPr lang="en-US" sz="1700" i="1" dirty="0">
                <a:solidFill>
                  <a:schemeClr val="tx1"/>
                </a:solidFill>
              </a:rPr>
              <a:t>The social network of contemporary popular musicians</a:t>
            </a:r>
            <a:endParaRPr lang="en-US" sz="2000" dirty="0"/>
          </a:p>
          <a:p>
            <a:pPr indent="0" marL="0">
              <a:spcBef>
                <a:spcPts val="1000"/>
              </a:spcBef>
              <a:buNone/>
            </a:pPr>
            <a:r>
              <a:rPr lang="en-US" sz="1600" dirty="0">
                <a:solidFill>
                  <a:schemeClr val="tx2"/>
                </a:solidFill>
              </a:rPr>
              <a:t>A collaboration network of popular musicians, built from an online music guide.</a:t>
            </a:r>
            <a:endParaRPr lang="en-US" sz="2000" dirty="0"/>
          </a:p>
        </p:txBody>
      </p:sp>
      <p:sp>
        <p:nvSpPr>
          <p:cNvPr id="7" name="Paper 3"/>
          <p:cNvSpPr/>
          <p:nvPr/>
        </p:nvSpPr>
        <p:spPr>
          <a:xfrm>
            <a:off x="8127797" y="1371600"/>
            <a:ext cx="3515258" cy="2651760"/>
          </a:xfrm>
          <a:prstGeom prst="roundRect">
            <a:avLst>
              <a:gd name="adj" fmla="val 4138"/>
            </a:avLst>
          </a:prstGeom>
          <a:solidFill>
            <a:schemeClr val="bg2"/>
          </a:solidFill>
          <a:ln w="12700">
            <a:solidFill>
              <a:schemeClr val="bg2"/>
            </a:solidFill>
            <a:prstDash val="solid"/>
          </a:ln>
        </p:spPr>
      </p:sp>
      <p:sp>
        <p:nvSpPr>
          <p:cNvPr id="8" name="Paper 3 text"/>
          <p:cNvSpPr txBox="1"/>
          <p:nvPr/>
        </p:nvSpPr>
        <p:spPr>
          <a:xfrm>
            <a:off x="8402117" y="1600200"/>
            <a:ext cx="2966618" cy="2240280"/>
          </a:xfrm>
          <a:prstGeom prst="rect">
            <a:avLst/>
          </a:prstGeom>
          <a:noFill/>
          <a:ln/>
        </p:spPr>
        <p:txBody>
          <a:bodyPr wrap="square" lIns="0" tIns="0" rIns="0" bIns="0" rtlCol="0" anchor="t"/>
          <a:lstStyle/>
          <a:p>
            <a:pPr indent="0" marL="0">
              <a:buNone/>
            </a:pPr>
            <a:r>
              <a:rPr lang="en-US" sz="2000" b="1" dirty="0">
                <a:solidFill>
                  <a:schemeClr val="accent3"/>
                </a:solidFill>
              </a:rPr>
              <a:t>Bryan &amp; Wang, 2011</a:t>
            </a:r>
            <a:endParaRPr lang="en-US" sz="2000" dirty="0"/>
          </a:p>
          <a:p>
            <a:pPr indent="0" marL="0">
              <a:spcBef>
                <a:spcPts val="800"/>
              </a:spcBef>
              <a:buNone/>
            </a:pPr>
            <a:r>
              <a:rPr lang="en-US" sz="1700" i="1" dirty="0">
                <a:solidFill>
                  <a:schemeClr val="tx1"/>
                </a:solidFill>
              </a:rPr>
              <a:t>Musical influence network analysis of sample-based music</a:t>
            </a:r>
            <a:endParaRPr lang="en-US" sz="2000" dirty="0"/>
          </a:p>
          <a:p>
            <a:pPr indent="0" marL="0">
              <a:spcBef>
                <a:spcPts val="1000"/>
              </a:spcBef>
              <a:buNone/>
            </a:pPr>
            <a:r>
              <a:rPr lang="en-US" sz="1600" dirty="0">
                <a:solidFill>
                  <a:schemeClr val="tx2"/>
                </a:solidFill>
              </a:rPr>
              <a:t>Sampling network from WhoSampled: funk, soul and disco strongly influenced hip hop, R&amp;B and electronic music.</a:t>
            </a:r>
            <a:endParaRPr lang="en-US" sz="2000" dirty="0"/>
          </a:p>
        </p:txBody>
      </p:sp>
      <p:sp>
        <p:nvSpPr>
          <p:cNvPr id="9" name="Our step band"/>
          <p:cNvSpPr/>
          <p:nvPr/>
        </p:nvSpPr>
        <p:spPr>
          <a:xfrm>
            <a:off x="548640" y="4343400"/>
            <a:ext cx="11094415" cy="1097280"/>
          </a:xfrm>
          <a:prstGeom prst="roundRect">
            <a:avLst>
              <a:gd name="adj" fmla="val 10000"/>
            </a:avLst>
          </a:prstGeom>
          <a:solidFill>
            <a:schemeClr val="tx1"/>
          </a:solidFill>
          <a:ln w="12700">
            <a:solidFill>
              <a:schemeClr val="tx1"/>
            </a:solidFill>
            <a:prstDash val="solid"/>
          </a:ln>
        </p:spPr>
      </p:sp>
      <p:sp>
        <p:nvSpPr>
          <p:cNvPr id="10" name="Our step label"/>
          <p:cNvSpPr txBox="1"/>
          <p:nvPr/>
        </p:nvSpPr>
        <p:spPr>
          <a:xfrm>
            <a:off x="914400" y="4343400"/>
            <a:ext cx="1645920" cy="1097280"/>
          </a:xfrm>
          <a:prstGeom prst="rect">
            <a:avLst/>
          </a:prstGeom>
          <a:noFill/>
          <a:ln/>
        </p:spPr>
        <p:txBody>
          <a:bodyPr wrap="square" lIns="0" tIns="0" rIns="0" bIns="0" rtlCol="0" anchor="ctr"/>
          <a:lstStyle/>
          <a:p>
            <a:pPr indent="0" marL="0">
              <a:buNone/>
            </a:pPr>
            <a:r>
              <a:rPr lang="en-US" sz="2000" b="1" dirty="0">
                <a:solidFill>
                  <a:schemeClr val="accent4"/>
                </a:solidFill>
              </a:rPr>
              <a:t>Our step</a:t>
            </a:r>
            <a:endParaRPr lang="en-US" sz="2000" dirty="0"/>
          </a:p>
        </p:txBody>
      </p:sp>
      <p:sp>
        <p:nvSpPr>
          <p:cNvPr id="11" name="Our step text"/>
          <p:cNvSpPr txBox="1"/>
          <p:nvPr/>
        </p:nvSpPr>
        <p:spPr>
          <a:xfrm>
            <a:off x="2651760" y="4343400"/>
            <a:ext cx="8625535" cy="1097280"/>
          </a:xfrm>
          <a:prstGeom prst="rect">
            <a:avLst/>
          </a:prstGeom>
          <a:noFill/>
          <a:ln/>
        </p:spPr>
        <p:txBody>
          <a:bodyPr wrap="square" lIns="0" tIns="0" rIns="0" bIns="0" rtlCol="0" anchor="ctr"/>
          <a:lstStyle/>
          <a:p>
            <a:pPr indent="0" marL="0">
              <a:buNone/>
            </a:pPr>
            <a:r>
              <a:rPr lang="en-US" sz="1600" dirty="0">
                <a:solidFill>
                  <a:schemeClr val="bg1"/>
                </a:solidFill>
              </a:rPr>
              <a:t>The </a:t>
            </a:r>
            <a:pPr indent="0" marL="0">
              <a:buNone/>
            </a:pPr>
            <a:r>
              <a:rPr lang="en-US" sz="1600" b="1" dirty="0">
                <a:solidFill>
                  <a:schemeClr val="bg1"/>
                </a:solidFill>
              </a:rPr>
              <a:t>complete</a:t>
            </a:r>
            <a:pPr indent="0" marL="0">
              <a:buNone/>
            </a:pPr>
            <a:r>
              <a:rPr lang="en-US" sz="1600" dirty="0">
                <a:solidFill>
                  <a:schemeClr val="bg1"/>
                </a:solidFill>
              </a:rPr>
              <a:t> open MusicBrainz export, not a crawl · </a:t>
            </a:r>
            <a:pPr indent="0" marL="0">
              <a:buNone/>
            </a:pPr>
            <a:r>
              <a:rPr lang="en-US" sz="1600" b="1" dirty="0">
                <a:solidFill>
                  <a:schemeClr val="bg1"/>
                </a:solidFill>
              </a:rPr>
              <a:t>typed credits</a:t>
            </a:r>
            <a:pPr indent="0" marL="0">
              <a:buNone/>
            </a:pPr>
            <a:r>
              <a:rPr lang="en-US" sz="1600" dirty="0">
                <a:solidFill>
                  <a:schemeClr val="bg1"/>
                </a:solidFill>
              </a:rPr>
              <a:t>: billed, featured, producer, performer · a </a:t>
            </a:r>
            <a:pPr indent="0" marL="0">
              <a:buNone/>
            </a:pPr>
            <a:r>
              <a:rPr lang="en-US" sz="1600" b="1" dirty="0">
                <a:solidFill>
                  <a:schemeClr val="bg1"/>
                </a:solidFill>
              </a:rPr>
              <a:t>bridge score</a:t>
            </a:r>
            <a:pPr indent="0" marL="0">
              <a:buNone/>
            </a:pPr>
            <a:r>
              <a:rPr lang="en-US" sz="1600" dirty="0">
                <a:solidFill>
                  <a:schemeClr val="bg1"/>
                </a:solidFill>
              </a:rPr>
              <a:t> that measures genre bridging directly</a:t>
            </a:r>
            <a:endParaRPr lang="en-US" sz="1600" dirty="0"/>
          </a:p>
        </p:txBody>
      </p:sp>
      <p:sp>
        <p:nvSpPr>
          <p:cNvPr id="12" name="Source caption"/>
          <p:cNvSpPr txBox="1"/>
          <p:nvPr/>
        </p:nvSpPr>
        <p:spPr>
          <a:xfrm>
            <a:off x="548640" y="6263640"/>
            <a:ext cx="10362895" cy="274320"/>
          </a:xfrm>
          <a:prstGeom prst="rect">
            <a:avLst/>
          </a:prstGeom>
          <a:noFill/>
          <a:ln/>
        </p:spPr>
        <p:txBody>
          <a:bodyPr wrap="square" lIns="0" tIns="0" rIns="0" bIns="0" rtlCol="0" anchor="ctr"/>
          <a:lstStyle/>
          <a:p>
            <a:pPr indent="0" marL="0">
              <a:buNone/>
            </a:pPr>
            <a:r>
              <a:rPr lang="en-US" sz="1100" dirty="0">
                <a:solidFill>
                  <a:schemeClr val="tx2"/>
                </a:solidFill>
              </a:rPr>
              <a:t>Methods from: Louvain (Blondel et al. 2008) · PageRank (Page et al. 1999) · betweenness (Freeman 1977; Brandes 2001) · NMI/AMI (Vinh et al. 2010)</a:t>
            </a:r>
            <a:endParaRPr lang="en-US" sz="11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Methodology</a:t>
            </a:r>
            <a:endParaRPr lang="en-US" sz="3600" dirty="0"/>
          </a:p>
        </p:txBody>
      </p:sp>
      <p:sp>
        <p:nvSpPr>
          <p:cNvPr id="3" name="Stage 1"/>
          <p:cNvSpPr/>
          <p:nvPr/>
        </p:nvSpPr>
        <p:spPr>
          <a:xfrm>
            <a:off x="548640" y="1371600"/>
            <a:ext cx="2327834" cy="1188720"/>
          </a:xfrm>
          <a:prstGeom prst="roundRect">
            <a:avLst>
              <a:gd name="adj" fmla="val 9231"/>
            </a:avLst>
          </a:prstGeom>
          <a:solidFill>
            <a:schemeClr val="bg2"/>
          </a:solidFill>
          <a:ln w="12700">
            <a:solidFill>
              <a:schemeClr val="bg2"/>
            </a:solidFill>
            <a:prstDash val="solid"/>
          </a:ln>
        </p:spPr>
      </p:sp>
      <p:sp>
        <p:nvSpPr>
          <p:cNvPr id="4" name="Stage 1 text"/>
          <p:cNvSpPr txBox="1"/>
          <p:nvPr/>
        </p:nvSpPr>
        <p:spPr>
          <a:xfrm>
            <a:off x="777240" y="1371600"/>
            <a:ext cx="1870634" cy="1188720"/>
          </a:xfrm>
          <a:prstGeom prst="rect">
            <a:avLst/>
          </a:prstGeom>
          <a:noFill/>
          <a:ln/>
        </p:spPr>
        <p:txBody>
          <a:bodyPr wrap="square" lIns="0" tIns="0" rIns="0" bIns="0" rtlCol="0" anchor="ctr"/>
          <a:lstStyle/>
          <a:p>
            <a:pPr indent="0" marL="0">
              <a:buNone/>
            </a:pPr>
            <a:r>
              <a:rPr lang="en-US" sz="1800" b="1" dirty="0">
                <a:solidFill>
                  <a:schemeClr val="tx1"/>
                </a:solidFill>
              </a:rPr>
              <a:t>MusicBrainz dump</a:t>
            </a:r>
            <a:endParaRPr lang="en-US" sz="1800" dirty="0"/>
          </a:p>
          <a:p>
            <a:pPr indent="0" marL="0">
              <a:spcBef>
                <a:spcPts val="400"/>
              </a:spcBef>
              <a:buNone/>
            </a:pPr>
            <a:r>
              <a:rPr lang="en-US" sz="1400" dirty="0">
                <a:solidFill>
                  <a:schemeClr val="tx2"/>
                </a:solidFill>
              </a:rPr>
              <a:t>40.5 M recordings</a:t>
            </a:r>
            <a:endParaRPr lang="en-US" sz="1800" dirty="0"/>
          </a:p>
          <a:p>
            <a:pPr indent="0" marL="0">
              <a:buNone/>
            </a:pPr>
            <a:r>
              <a:rPr lang="en-US" sz="1400" dirty="0">
                <a:solidFill>
                  <a:schemeClr val="tx2"/>
                </a:solidFill>
              </a:rPr>
              <a:t>3.0 M artists</a:t>
            </a:r>
            <a:endParaRPr lang="en-US" sz="1800" dirty="0"/>
          </a:p>
        </p:txBody>
      </p:sp>
      <p:sp>
        <p:nvSpPr>
          <p:cNvPr id="5" name="Arrow 1"/>
          <p:cNvSpPr/>
          <p:nvPr/>
        </p:nvSpPr>
        <p:spPr>
          <a:xfrm>
            <a:off x="3004490" y="1828800"/>
            <a:ext cx="338328" cy="274320"/>
          </a:xfrm>
          <a:prstGeom prst="rightArrow">
            <a:avLst/>
          </a:prstGeom>
          <a:solidFill>
            <a:schemeClr val="accent1"/>
          </a:solidFill>
          <a:ln w="12700">
            <a:solidFill>
              <a:schemeClr val="accent1"/>
            </a:solidFill>
            <a:prstDash val="solid"/>
          </a:ln>
        </p:spPr>
      </p:sp>
      <p:sp>
        <p:nvSpPr>
          <p:cNvPr id="6" name="Stage 2"/>
          <p:cNvSpPr/>
          <p:nvPr/>
        </p:nvSpPr>
        <p:spPr>
          <a:xfrm>
            <a:off x="3470834" y="1371600"/>
            <a:ext cx="2327834" cy="1188720"/>
          </a:xfrm>
          <a:prstGeom prst="roundRect">
            <a:avLst>
              <a:gd name="adj" fmla="val 9231"/>
            </a:avLst>
          </a:prstGeom>
          <a:solidFill>
            <a:schemeClr val="bg2"/>
          </a:solidFill>
          <a:ln w="12700">
            <a:solidFill>
              <a:schemeClr val="bg2"/>
            </a:solidFill>
            <a:prstDash val="solid"/>
          </a:ln>
        </p:spPr>
      </p:sp>
      <p:sp>
        <p:nvSpPr>
          <p:cNvPr id="7" name="Stage 2 text"/>
          <p:cNvSpPr txBox="1"/>
          <p:nvPr/>
        </p:nvSpPr>
        <p:spPr>
          <a:xfrm>
            <a:off x="3699434" y="1371600"/>
            <a:ext cx="1870634" cy="1188720"/>
          </a:xfrm>
          <a:prstGeom prst="rect">
            <a:avLst/>
          </a:prstGeom>
          <a:noFill/>
          <a:ln/>
        </p:spPr>
        <p:txBody>
          <a:bodyPr wrap="square" lIns="0" tIns="0" rIns="0" bIns="0" rtlCol="0" anchor="ctr"/>
          <a:lstStyle/>
          <a:p>
            <a:pPr indent="0" marL="0">
              <a:buNone/>
            </a:pPr>
            <a:r>
              <a:rPr lang="en-US" sz="1800" b="1" dirty="0">
                <a:solidFill>
                  <a:schemeClr val="tx1"/>
                </a:solidFill>
              </a:rPr>
              <a:t>PySpark ETL</a:t>
            </a:r>
            <a:endParaRPr lang="en-US" sz="1800" dirty="0"/>
          </a:p>
          <a:p>
            <a:pPr indent="0" marL="0">
              <a:spcBef>
                <a:spcPts val="400"/>
              </a:spcBef>
              <a:buNone/>
            </a:pPr>
            <a:r>
              <a:rPr lang="en-US" sz="1400" dirty="0">
                <a:solidFill>
                  <a:schemeClr val="tx2"/>
                </a:solidFill>
              </a:rPr>
              <a:t>raw → clean → graph</a:t>
            </a:r>
            <a:endParaRPr lang="en-US" sz="1800" dirty="0"/>
          </a:p>
          <a:p>
            <a:pPr indent="0" marL="0">
              <a:buNone/>
            </a:pPr>
            <a:r>
              <a:rPr lang="en-US" sz="1400" dirty="0">
                <a:solidFill>
                  <a:schemeClr val="tx2"/>
                </a:solidFill>
              </a:rPr>
              <a:t>Parquet layers</a:t>
            </a:r>
            <a:endParaRPr lang="en-US" sz="1800" dirty="0"/>
          </a:p>
        </p:txBody>
      </p:sp>
      <p:sp>
        <p:nvSpPr>
          <p:cNvPr id="8" name="Arrow 2"/>
          <p:cNvSpPr/>
          <p:nvPr/>
        </p:nvSpPr>
        <p:spPr>
          <a:xfrm>
            <a:off x="5926684" y="1828800"/>
            <a:ext cx="338328" cy="274320"/>
          </a:xfrm>
          <a:prstGeom prst="rightArrow">
            <a:avLst/>
          </a:prstGeom>
          <a:solidFill>
            <a:schemeClr val="accent1"/>
          </a:solidFill>
          <a:ln w="12700">
            <a:solidFill>
              <a:schemeClr val="accent1"/>
            </a:solidFill>
            <a:prstDash val="solid"/>
          </a:ln>
        </p:spPr>
      </p:sp>
      <p:sp>
        <p:nvSpPr>
          <p:cNvPr id="9" name="Stage 3"/>
          <p:cNvSpPr/>
          <p:nvPr/>
        </p:nvSpPr>
        <p:spPr>
          <a:xfrm>
            <a:off x="6393028" y="1371600"/>
            <a:ext cx="2327834" cy="1188720"/>
          </a:xfrm>
          <a:prstGeom prst="roundRect">
            <a:avLst>
              <a:gd name="adj" fmla="val 9231"/>
            </a:avLst>
          </a:prstGeom>
          <a:solidFill>
            <a:schemeClr val="bg2"/>
          </a:solidFill>
          <a:ln w="12700">
            <a:solidFill>
              <a:schemeClr val="bg2"/>
            </a:solidFill>
            <a:prstDash val="solid"/>
          </a:ln>
        </p:spPr>
      </p:sp>
      <p:sp>
        <p:nvSpPr>
          <p:cNvPr id="10" name="Stage 3 text"/>
          <p:cNvSpPr txBox="1"/>
          <p:nvPr/>
        </p:nvSpPr>
        <p:spPr>
          <a:xfrm>
            <a:off x="6621628" y="1371600"/>
            <a:ext cx="1870634" cy="1188720"/>
          </a:xfrm>
          <a:prstGeom prst="rect">
            <a:avLst/>
          </a:prstGeom>
          <a:noFill/>
          <a:ln/>
        </p:spPr>
        <p:txBody>
          <a:bodyPr wrap="square" lIns="0" tIns="0" rIns="0" bIns="0" rtlCol="0" anchor="ctr"/>
          <a:lstStyle/>
          <a:p>
            <a:pPr indent="0" marL="0">
              <a:buNone/>
            </a:pPr>
            <a:r>
              <a:rPr lang="en-US" sz="1800" b="1" dirty="0">
                <a:solidFill>
                  <a:schemeClr val="tx1"/>
                </a:solidFill>
              </a:rPr>
              <a:t>Neo4j + GDS</a:t>
            </a:r>
            <a:endParaRPr lang="en-US" sz="1800" dirty="0"/>
          </a:p>
          <a:p>
            <a:pPr indent="0" marL="0">
              <a:spcBef>
                <a:spcPts val="400"/>
              </a:spcBef>
              <a:buNone/>
            </a:pPr>
            <a:r>
              <a:rPr lang="en-US" sz="1400" dirty="0">
                <a:solidFill>
                  <a:schemeClr val="tx2"/>
                </a:solidFill>
              </a:rPr>
              <a:t>1.14 M artists</a:t>
            </a:r>
            <a:endParaRPr lang="en-US" sz="1800" dirty="0"/>
          </a:p>
          <a:p>
            <a:pPr indent="0" marL="0">
              <a:buNone/>
            </a:pPr>
            <a:r>
              <a:rPr lang="en-US" sz="1400" dirty="0">
                <a:solidFill>
                  <a:schemeClr val="tx2"/>
                </a:solidFill>
              </a:rPr>
              <a:t>3.08 M edges</a:t>
            </a:r>
            <a:endParaRPr lang="en-US" sz="1800" dirty="0"/>
          </a:p>
        </p:txBody>
      </p:sp>
      <p:sp>
        <p:nvSpPr>
          <p:cNvPr id="11" name="Arrow 3"/>
          <p:cNvSpPr/>
          <p:nvPr/>
        </p:nvSpPr>
        <p:spPr>
          <a:xfrm>
            <a:off x="8848877" y="1828800"/>
            <a:ext cx="338328" cy="274320"/>
          </a:xfrm>
          <a:prstGeom prst="rightArrow">
            <a:avLst/>
          </a:prstGeom>
          <a:solidFill>
            <a:schemeClr val="accent1"/>
          </a:solidFill>
          <a:ln w="12700">
            <a:solidFill>
              <a:schemeClr val="accent1"/>
            </a:solidFill>
            <a:prstDash val="solid"/>
          </a:ln>
        </p:spPr>
      </p:sp>
      <p:sp>
        <p:nvSpPr>
          <p:cNvPr id="12" name="Stage 4"/>
          <p:cNvSpPr/>
          <p:nvPr/>
        </p:nvSpPr>
        <p:spPr>
          <a:xfrm>
            <a:off x="9315221" y="1371600"/>
            <a:ext cx="2327834" cy="1188720"/>
          </a:xfrm>
          <a:prstGeom prst="roundRect">
            <a:avLst>
              <a:gd name="adj" fmla="val 9231"/>
            </a:avLst>
          </a:prstGeom>
          <a:solidFill>
            <a:schemeClr val="bg2"/>
          </a:solidFill>
          <a:ln w="12700">
            <a:solidFill>
              <a:schemeClr val="bg2"/>
            </a:solidFill>
            <a:prstDash val="solid"/>
          </a:ln>
        </p:spPr>
      </p:sp>
      <p:sp>
        <p:nvSpPr>
          <p:cNvPr id="13" name="Stage 4 text"/>
          <p:cNvSpPr txBox="1"/>
          <p:nvPr/>
        </p:nvSpPr>
        <p:spPr>
          <a:xfrm>
            <a:off x="9543821" y="1371600"/>
            <a:ext cx="1870634" cy="1188720"/>
          </a:xfrm>
          <a:prstGeom prst="rect">
            <a:avLst/>
          </a:prstGeom>
          <a:noFill/>
          <a:ln/>
        </p:spPr>
        <p:txBody>
          <a:bodyPr wrap="square" lIns="0" tIns="0" rIns="0" bIns="0" rtlCol="0" anchor="ctr"/>
          <a:lstStyle/>
          <a:p>
            <a:pPr indent="0" marL="0">
              <a:buNone/>
            </a:pPr>
            <a:r>
              <a:rPr lang="en-US" sz="1800" b="1" dirty="0">
                <a:solidFill>
                  <a:schemeClr val="tx1"/>
                </a:solidFill>
              </a:rPr>
              <a:t>Reports</a:t>
            </a:r>
            <a:endParaRPr lang="en-US" sz="1800" dirty="0"/>
          </a:p>
          <a:p>
            <a:pPr indent="0" marL="0">
              <a:spcBef>
                <a:spcPts val="400"/>
              </a:spcBef>
              <a:buNone/>
            </a:pPr>
            <a:r>
              <a:rPr lang="en-US" sz="1400" dirty="0">
                <a:solidFill>
                  <a:schemeClr val="tx2"/>
                </a:solidFill>
              </a:rPr>
              <a:t>every figure and</a:t>
            </a:r>
            <a:endParaRPr lang="en-US" sz="1800" dirty="0"/>
          </a:p>
          <a:p>
            <a:pPr indent="0" marL="0">
              <a:buNone/>
            </a:pPr>
            <a:r>
              <a:rPr lang="en-US" sz="1400" dirty="0">
                <a:solidFill>
                  <a:schemeClr val="tx2"/>
                </a:solidFill>
              </a:rPr>
              <a:t>table from code</a:t>
            </a:r>
            <a:endParaRPr lang="en-US" sz="1800" dirty="0"/>
          </a:p>
        </p:txBody>
      </p:sp>
      <p:sp>
        <p:nvSpPr>
          <p:cNvPr id="14" name="Graph heading"/>
          <p:cNvSpPr txBox="1"/>
          <p:nvPr/>
        </p:nvSpPr>
        <p:spPr>
          <a:xfrm>
            <a:off x="548640" y="2880360"/>
            <a:ext cx="5318608" cy="411480"/>
          </a:xfrm>
          <a:prstGeom prst="rect">
            <a:avLst/>
          </a:prstGeom>
          <a:noFill/>
          <a:ln/>
        </p:spPr>
        <p:txBody>
          <a:bodyPr wrap="square" lIns="0" tIns="0" rIns="0" bIns="0" rtlCol="0" anchor="ctr"/>
          <a:lstStyle/>
          <a:p>
            <a:pPr indent="0" marL="0">
              <a:buNone/>
            </a:pPr>
            <a:r>
              <a:rPr lang="en-US" sz="2000" b="1" dirty="0">
                <a:solidFill>
                  <a:schemeClr val="accent3"/>
                </a:solidFill>
              </a:rPr>
              <a:t>Graph</a:t>
            </a:r>
            <a:endParaRPr lang="en-US" sz="2000" dirty="0"/>
          </a:p>
        </p:txBody>
      </p:sp>
      <p:sp>
        <p:nvSpPr>
          <p:cNvPr id="15" name="Graph list"/>
          <p:cNvSpPr txBox="1"/>
          <p:nvPr/>
        </p:nvSpPr>
        <p:spPr>
          <a:xfrm>
            <a:off x="548640" y="3383280"/>
            <a:ext cx="5318608"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4 edge types: co-credited, featured, produced for, performed for</a:t>
            </a:r>
            <a:endParaRPr lang="en-US" sz="1600" dirty="0"/>
          </a:p>
          <a:p>
            <a:pPr marL="342900" indent="-342900">
              <a:spcAft>
                <a:spcPts val="800"/>
              </a:spcAft>
              <a:buSzPct val="100000"/>
              <a:buChar char="•"/>
            </a:pPr>
            <a:r>
              <a:rPr lang="en-US" sz="1600" dirty="0">
                <a:solidFill>
                  <a:schemeClr val="tx2"/>
                </a:solidFill>
              </a:rPr>
              <a:t>Weight = shared recordings, one count per recording</a:t>
            </a:r>
            <a:endParaRPr lang="en-US" sz="1600" dirty="0"/>
          </a:p>
          <a:p>
            <a:pPr marL="342900" indent="-342900">
              <a:spcAft>
                <a:spcPts val="800"/>
              </a:spcAft>
              <a:buSzPct val="100000"/>
              <a:buChar char="•"/>
            </a:pPr>
            <a:r>
              <a:rPr lang="en-US" sz="1600" dirty="0">
                <a:solidFill>
                  <a:schemeClr val="tx2"/>
                </a:solidFill>
              </a:rPr>
              <a:t>Filtered: placeholder artists, credits over 10 artists, groups ↔ own members, Character and classical artists</a:t>
            </a:r>
            <a:endParaRPr lang="en-US" sz="1600" dirty="0"/>
          </a:p>
        </p:txBody>
      </p:sp>
      <p:sp>
        <p:nvSpPr>
          <p:cNvPr id="16" name="Metrics heading"/>
          <p:cNvSpPr txBox="1"/>
          <p:nvPr/>
        </p:nvSpPr>
        <p:spPr>
          <a:xfrm>
            <a:off x="6324448" y="2880360"/>
            <a:ext cx="5318608" cy="411480"/>
          </a:xfrm>
          <a:prstGeom prst="rect">
            <a:avLst/>
          </a:prstGeom>
          <a:noFill/>
          <a:ln/>
        </p:spPr>
        <p:txBody>
          <a:bodyPr wrap="square" lIns="0" tIns="0" rIns="0" bIns="0" rtlCol="0" anchor="ctr"/>
          <a:lstStyle/>
          <a:p>
            <a:pPr indent="0" marL="0">
              <a:buNone/>
            </a:pPr>
            <a:r>
              <a:rPr lang="en-US" sz="2000" b="1" dirty="0">
                <a:solidFill>
                  <a:schemeClr val="accent3"/>
                </a:solidFill>
              </a:rPr>
              <a:t>Metrics</a:t>
            </a:r>
            <a:endParaRPr lang="en-US" sz="2000" dirty="0"/>
          </a:p>
        </p:txBody>
      </p:sp>
      <p:sp>
        <p:nvSpPr>
          <p:cNvPr id="17" name="Metrics list"/>
          <p:cNvSpPr txBox="1"/>
          <p:nvPr/>
        </p:nvSpPr>
        <p:spPr>
          <a:xfrm>
            <a:off x="6324448" y="3383280"/>
            <a:ext cx="5318608"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RQ1 bridge score = genre diversity × betweenness percentile</a:t>
            </a:r>
            <a:endParaRPr lang="en-US" sz="1600" dirty="0"/>
          </a:p>
          <a:p>
            <a:pPr marL="342900" indent="-342900">
              <a:spcAft>
                <a:spcPts val="800"/>
              </a:spcAft>
              <a:buSzPct val="100000"/>
              <a:buChar char="•"/>
            </a:pPr>
            <a:r>
              <a:rPr lang="en-US" sz="1600" dirty="0">
                <a:solidFill>
                  <a:schemeClr val="tx2"/>
                </a:solidFill>
              </a:rPr>
              <a:t>RQ2 Louvain communities vs genre (NMI, AMI)</a:t>
            </a:r>
            <a:endParaRPr lang="en-US" sz="1600" dirty="0"/>
          </a:p>
          <a:p>
            <a:pPr marL="342900" indent="-342900">
              <a:spcAft>
                <a:spcPts val="800"/>
              </a:spcAft>
              <a:buSzPct val="100000"/>
              <a:buChar char="•"/>
            </a:pPr>
            <a:r>
              <a:rPr lang="en-US" sz="1600" dirty="0">
                <a:solidFill>
                  <a:schemeClr val="tx2"/>
                </a:solidFill>
              </a:rPr>
              <a:t>RQ3 cross-genre and featuring share per decade</a:t>
            </a:r>
            <a:endParaRPr lang="en-US" sz="1600" dirty="0"/>
          </a:p>
          <a:p>
            <a:pPr marL="342900" indent="-342900">
              <a:spcAft>
                <a:spcPts val="800"/>
              </a:spcAft>
              <a:buSzPct val="100000"/>
              <a:buChar char="•"/>
            </a:pPr>
            <a:r>
              <a:rPr lang="en-US" sz="1600" dirty="0">
                <a:solidFill>
                  <a:schemeClr val="tx2"/>
                </a:solidFill>
              </a:rPr>
              <a:t>RQ4 degree, PageRank, betweenness; Spearman ρ, top-100 Jaccard</a:t>
            </a:r>
            <a:endParaRPr lang="en-US" sz="1600" dirty="0"/>
          </a:p>
        </p:txBody>
      </p:sp>
      <p:sp>
        <p:nvSpPr>
          <p:cNvPr id="18" name="Source caption"/>
          <p:cNvSpPr txBox="1"/>
          <p:nvPr/>
        </p:nvSpPr>
        <p:spPr>
          <a:xfrm>
            <a:off x="548640" y="6263640"/>
            <a:ext cx="10362895" cy="274320"/>
          </a:xfrm>
          <a:prstGeom prst="rect">
            <a:avLst/>
          </a:prstGeom>
          <a:noFill/>
          <a:ln/>
        </p:spPr>
        <p:txBody>
          <a:bodyPr wrap="square" lIns="0" tIns="0" rIns="0" bIns="0" rtlCol="0" anchor="ctr"/>
          <a:lstStyle/>
          <a:p>
            <a:pPr indent="0" marL="0">
              <a:buNone/>
            </a:pPr>
            <a:r>
              <a:rPr lang="en-US" sz="1100" dirty="0">
                <a:solidFill>
                  <a:schemeClr val="tx2"/>
                </a:solidFill>
              </a:rPr>
              <a:t>Validated against 15 pre-registered artists · sensitivity graphs with Character and classical artists · benchmarks: Spark scaling, PageRank in 3 engines</a:t>
            </a:r>
            <a:endParaRPr lang="en-US" sz="11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rPr>
              <a:t>Working model</a:t>
            </a:r>
            <a:endParaRPr lang="en-US" sz="3600" dirty="0"/>
          </a:p>
        </p:txBody>
      </p:sp>
      <p:sp>
        <p:nvSpPr>
          <p:cNvPr id="3" name="Video frame"/>
          <p:cNvSpPr/>
          <p:nvPr/>
        </p:nvSpPr>
        <p:spPr>
          <a:xfrm>
            <a:off x="548640" y="1371600"/>
            <a:ext cx="7040880" cy="3960495"/>
          </a:xfrm>
          <a:prstGeom prst="roundRect">
            <a:avLst>
              <a:gd name="adj" fmla="val 2309"/>
            </a:avLst>
          </a:prstGeom>
          <a:solidFill>
            <a:srgbClr val="1F2E52"/>
          </a:solidFill>
          <a:ln w="19050">
            <a:solidFill>
              <a:schemeClr val="accent4"/>
            </a:solidFill>
            <a:prstDash val="dash"/>
          </a:ln>
        </p:spPr>
      </p:sp>
      <p:sp>
        <p:nvSpPr>
          <p:cNvPr id="4" name="Video frame label"/>
          <p:cNvSpPr txBox="1"/>
          <p:nvPr/>
        </p:nvSpPr>
        <p:spPr>
          <a:xfrm>
            <a:off x="548640" y="1371600"/>
            <a:ext cx="7040880" cy="3960495"/>
          </a:xfrm>
          <a:prstGeom prst="rect">
            <a:avLst/>
          </a:prstGeom>
          <a:noFill/>
          <a:ln/>
        </p:spPr>
        <p:txBody>
          <a:bodyPr wrap="square" lIns="0" tIns="0" rIns="0" bIns="0" rtlCol="0" anchor="ctr"/>
          <a:lstStyle/>
          <a:p>
            <a:pPr algn="ctr" indent="0" marL="0">
              <a:buNone/>
            </a:pPr>
            <a:r>
              <a:rPr lang="en-US" sz="2200" b="1" dirty="0">
                <a:solidFill>
                  <a:schemeClr val="bg2"/>
                </a:solidFill>
              </a:rPr>
              <a:t>Demo video</a:t>
            </a:r>
            <a:endParaRPr lang="en-US" sz="2200" dirty="0"/>
          </a:p>
          <a:p>
            <a:pPr algn="ctr" indent="0" marL="0">
              <a:buNone/>
            </a:pPr>
            <a:r>
              <a:rPr lang="en-US" sz="1500" dirty="0">
                <a:solidFill>
                  <a:schemeClr val="bg2"/>
                </a:solidFill>
              </a:rPr>
              <a:t>Insert › Video, then place it over this frame</a:t>
            </a:r>
            <a:endParaRPr lang="en-US" sz="2200" dirty="0"/>
          </a:p>
        </p:txBody>
      </p:sp>
      <p:sp>
        <p:nvSpPr>
          <p:cNvPr id="5" name="Video contents heading"/>
          <p:cNvSpPr txBox="1"/>
          <p:nvPr/>
        </p:nvSpPr>
        <p:spPr>
          <a:xfrm>
            <a:off x="8046720" y="1371600"/>
            <a:ext cx="3596335" cy="411480"/>
          </a:xfrm>
          <a:prstGeom prst="rect">
            <a:avLst/>
          </a:prstGeom>
          <a:noFill/>
          <a:ln/>
        </p:spPr>
        <p:txBody>
          <a:bodyPr wrap="square" lIns="0" tIns="0" rIns="0" bIns="0" rtlCol="0" anchor="ctr"/>
          <a:lstStyle/>
          <a:p>
            <a:pPr indent="0" marL="0">
              <a:buNone/>
            </a:pPr>
            <a:r>
              <a:rPr lang="en-US" sz="2000" b="1" dirty="0">
                <a:solidFill>
                  <a:schemeClr val="accent4"/>
                </a:solidFill>
              </a:rPr>
              <a:t>In the video</a:t>
            </a:r>
            <a:endParaRPr lang="en-US" sz="2000" dirty="0"/>
          </a:p>
        </p:txBody>
      </p:sp>
      <p:sp>
        <p:nvSpPr>
          <p:cNvPr id="6" name="Video contents list"/>
          <p:cNvSpPr txBox="1"/>
          <p:nvPr/>
        </p:nvSpPr>
        <p:spPr>
          <a:xfrm>
            <a:off x="8046720" y="1874520"/>
            <a:ext cx="3596335" cy="35661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bg2"/>
                </a:solidFill>
              </a:rPr>
              <a:t>The graph: 1.1 M artists</a:t>
            </a:r>
            <a:endParaRPr lang="en-US" sz="1600" dirty="0"/>
          </a:p>
          <a:p>
            <a:pPr marL="342900" indent="-342900">
              <a:spcAft>
                <a:spcPts val="800"/>
              </a:spcAft>
              <a:buSzPct val="100000"/>
              <a:buFont typeface="+mj-lt"/>
              <a:buAutoNum type="arabicPeriod" startAt="1"/>
            </a:pPr>
            <a:r>
              <a:rPr lang="en-US" sz="1600" dirty="0">
                <a:solidFill>
                  <a:schemeClr val="bg2"/>
                </a:solidFill>
              </a:rPr>
              <a:t>Top genre bridges</a:t>
            </a:r>
            <a:endParaRPr lang="en-US" sz="1600" dirty="0"/>
          </a:p>
          <a:p>
            <a:pPr marL="342900" indent="-342900">
              <a:spcAft>
                <a:spcPts val="800"/>
              </a:spcAft>
              <a:buSzPct val="100000"/>
              <a:buFont typeface="+mj-lt"/>
              <a:buAutoNum type="arabicPeriod" startAt="1"/>
            </a:pPr>
            <a:r>
              <a:rPr lang="en-US" sz="1600" dirty="0">
                <a:solidFill>
                  <a:schemeClr val="bg2"/>
                </a:solidFill>
              </a:rPr>
              <a:t>Ry Cooder: partners in 11 genres</a:t>
            </a:r>
            <a:endParaRPr lang="en-US" sz="1600" dirty="0"/>
          </a:p>
          <a:p>
            <a:pPr marL="342900" indent="-342900">
              <a:spcAft>
                <a:spcPts val="800"/>
              </a:spcAft>
              <a:buSzPct val="100000"/>
              <a:buFont typeface="+mj-lt"/>
              <a:buAutoNum type="arabicPeriod" startAt="1"/>
            </a:pPr>
            <a:r>
              <a:rPr lang="en-US" sz="1600" dirty="0">
                <a:solidFill>
                  <a:schemeClr val="bg2"/>
                </a:solidFill>
              </a:rPr>
              <a:t>His ego network</a:t>
            </a:r>
            <a:endParaRPr lang="en-US" sz="1600" dirty="0"/>
          </a:p>
          <a:p>
            <a:pPr marL="342900" indent="-342900">
              <a:spcAft>
                <a:spcPts val="800"/>
              </a:spcAft>
              <a:buSzPct val="100000"/>
              <a:buFont typeface="+mj-lt"/>
              <a:buAutoNum type="arabicPeriod" startAt="1"/>
            </a:pPr>
            <a:r>
              <a:rPr lang="en-US" sz="1600" dirty="0">
                <a:solidFill>
                  <a:schemeClr val="bg2"/>
                </a:solidFill>
              </a:rPr>
              <a:t>Sinatra → Snoop Dogg: 2 hops</a:t>
            </a:r>
            <a:endParaRPr lang="en-US" sz="1600" dirty="0"/>
          </a:p>
          <a:p>
            <a:pPr marL="342900" indent="-342900">
              <a:spcAft>
                <a:spcPts val="800"/>
              </a:spcAft>
              <a:buSzPct val="100000"/>
              <a:buFont typeface="+mj-lt"/>
              <a:buAutoNum type="arabicPeriod" startAt="1"/>
            </a:pPr>
            <a:r>
              <a:rPr lang="en-US" sz="1600" dirty="0">
                <a:solidFill>
                  <a:schemeClr val="bg2"/>
                </a:solidFill>
              </a:rPr>
              <a:t>Three centrality top tens</a:t>
            </a:r>
            <a:endParaRPr lang="en-US" sz="1600" dirty="0"/>
          </a:p>
          <a:p>
            <a:pPr marL="342900" indent="-342900">
              <a:spcAft>
                <a:spcPts val="800"/>
              </a:spcAft>
              <a:buSzPct val="100000"/>
              <a:buFont typeface="+mj-lt"/>
              <a:buAutoNum type="arabicPeriod" startAt="1"/>
            </a:pPr>
            <a:r>
              <a:rPr lang="en-US" sz="1600" dirty="0">
                <a:solidFill>
                  <a:schemeClr val="bg2"/>
                </a:solidFill>
              </a:rPr>
              <a:t>Largest community</a:t>
            </a:r>
            <a:endParaRPr lang="en-US" sz="1600" dirty="0"/>
          </a:p>
        </p:txBody>
      </p:sp>
      <p:sp>
        <p:nvSpPr>
          <p:cNvPr id="7" name="Source caption"/>
          <p:cNvSpPr txBox="1"/>
          <p:nvPr/>
        </p:nvSpPr>
        <p:spPr>
          <a:xfrm>
            <a:off x="548640" y="6263640"/>
            <a:ext cx="10362895" cy="274320"/>
          </a:xfrm>
          <a:prstGeom prst="rect">
            <a:avLst/>
          </a:prstGeom>
          <a:noFill/>
          <a:ln/>
        </p:spPr>
        <p:txBody>
          <a:bodyPr wrap="square" lIns="0" tIns="0" rIns="0" bIns="0" rtlCol="0" anchor="ctr"/>
          <a:lstStyle/>
          <a:p>
            <a:pPr indent="0" marL="0">
              <a:buNone/>
            </a:pPr>
            <a:r>
              <a:rPr lang="en-US" sz="1100" dirty="0">
                <a:solidFill>
                  <a:schemeClr val="bg2"/>
                </a:solidFill>
              </a:rPr>
              <a:t>8 saved Cypher queries (neo4j/10_demo.cypher) on the full graph · each answers in under 4 s</a:t>
            </a:r>
            <a:endParaRPr lang="en-US" sz="11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Conclusion</a:t>
            </a:r>
            <a:endParaRPr lang="en-US" sz="3600" dirty="0"/>
          </a:p>
        </p:txBody>
      </p:sp>
      <p:sp>
        <p:nvSpPr>
          <p:cNvPr id="3" name="Result 1"/>
          <p:cNvSpPr/>
          <p:nvPr/>
        </p:nvSpPr>
        <p:spPr>
          <a:xfrm>
            <a:off x="548640" y="1325880"/>
            <a:ext cx="5410048" cy="1783080"/>
          </a:xfrm>
          <a:prstGeom prst="roundRect">
            <a:avLst>
              <a:gd name="adj" fmla="val 6154"/>
            </a:avLst>
          </a:prstGeom>
          <a:solidFill>
            <a:schemeClr val="bg2"/>
          </a:solidFill>
          <a:ln w="12700">
            <a:solidFill>
              <a:schemeClr val="bg2"/>
            </a:solidFill>
            <a:prstDash val="solid"/>
          </a:ln>
        </p:spPr>
      </p:sp>
      <p:sp>
        <p:nvSpPr>
          <p:cNvPr id="4" name="Result 1 text"/>
          <p:cNvSpPr txBox="1"/>
          <p:nvPr/>
        </p:nvSpPr>
        <p:spPr>
          <a:xfrm>
            <a:off x="868680" y="1508760"/>
            <a:ext cx="4769968" cy="1417320"/>
          </a:xfrm>
          <a:prstGeom prst="rect">
            <a:avLst/>
          </a:prstGeom>
          <a:noFill/>
          <a:ln/>
        </p:spPr>
        <p:txBody>
          <a:bodyPr wrap="square" lIns="0" tIns="0" rIns="0" bIns="0" rtlCol="0" anchor="t"/>
          <a:lstStyle/>
          <a:p>
            <a:pPr indent="0" marL="0">
              <a:buNone/>
            </a:pPr>
            <a:r>
              <a:rPr lang="en-US" sz="1400" b="1" dirty="0">
                <a:solidFill>
                  <a:schemeClr val="accent3"/>
                </a:solidFill>
              </a:rPr>
              <a:t>RQ1 Bridges</a:t>
            </a:r>
            <a:endParaRPr lang="en-US" sz="1400" dirty="0"/>
          </a:p>
          <a:p>
            <a:pPr indent="0" marL="0">
              <a:spcBef>
                <a:spcPts val="400"/>
              </a:spcBef>
              <a:buNone/>
            </a:pPr>
            <a:r>
              <a:rPr lang="en-US" sz="3200" b="1" dirty="0">
                <a:solidFill>
                  <a:schemeClr val="tx1"/>
                </a:solidFill>
              </a:rPr>
              <a:t>75.8 % within genre</a:t>
            </a:r>
            <a:endParaRPr lang="en-US" sz="1400" dirty="0"/>
          </a:p>
          <a:p>
            <a:pPr indent="0" marL="0">
              <a:spcBef>
                <a:spcPts val="600"/>
              </a:spcBef>
              <a:buNone/>
            </a:pPr>
            <a:r>
              <a:rPr lang="en-US" sz="1500" dirty="0">
                <a:solidFill>
                  <a:schemeClr val="tx2"/>
                </a:solidFill>
              </a:rPr>
              <a:t>Bridges are producers, session players and world musicians.</a:t>
            </a:r>
            <a:endParaRPr lang="en-US" sz="1400" dirty="0"/>
          </a:p>
        </p:txBody>
      </p:sp>
      <p:sp>
        <p:nvSpPr>
          <p:cNvPr id="5" name="Result 2"/>
          <p:cNvSpPr/>
          <p:nvPr/>
        </p:nvSpPr>
        <p:spPr>
          <a:xfrm>
            <a:off x="6233008" y="1325880"/>
            <a:ext cx="5410048" cy="1783080"/>
          </a:xfrm>
          <a:prstGeom prst="roundRect">
            <a:avLst>
              <a:gd name="adj" fmla="val 6154"/>
            </a:avLst>
          </a:prstGeom>
          <a:solidFill>
            <a:schemeClr val="bg2"/>
          </a:solidFill>
          <a:ln w="12700">
            <a:solidFill>
              <a:schemeClr val="bg2"/>
            </a:solidFill>
            <a:prstDash val="solid"/>
          </a:ln>
        </p:spPr>
      </p:sp>
      <p:sp>
        <p:nvSpPr>
          <p:cNvPr id="6" name="Result 2 text"/>
          <p:cNvSpPr txBox="1"/>
          <p:nvPr/>
        </p:nvSpPr>
        <p:spPr>
          <a:xfrm>
            <a:off x="6553048" y="1508760"/>
            <a:ext cx="4769968" cy="1417320"/>
          </a:xfrm>
          <a:prstGeom prst="rect">
            <a:avLst/>
          </a:prstGeom>
          <a:noFill/>
          <a:ln/>
        </p:spPr>
        <p:txBody>
          <a:bodyPr wrap="square" lIns="0" tIns="0" rIns="0" bIns="0" rtlCol="0" anchor="t"/>
          <a:lstStyle/>
          <a:p>
            <a:pPr indent="0" marL="0">
              <a:buNone/>
            </a:pPr>
            <a:r>
              <a:rPr lang="en-US" sz="1400" b="1" dirty="0">
                <a:solidFill>
                  <a:schemeClr val="accent3"/>
                </a:solidFill>
              </a:rPr>
              <a:t>RQ2 Communities</a:t>
            </a:r>
            <a:endParaRPr lang="en-US" sz="1400" dirty="0"/>
          </a:p>
          <a:p>
            <a:pPr indent="0" marL="0">
              <a:spcBef>
                <a:spcPts val="400"/>
              </a:spcBef>
              <a:buNone/>
            </a:pPr>
            <a:r>
              <a:rPr lang="en-US" sz="3200" b="1" dirty="0">
                <a:solidFill>
                  <a:schemeClr val="tx1"/>
                </a:solidFill>
              </a:rPr>
              <a:t>AMI 0.186</a:t>
            </a:r>
            <a:endParaRPr lang="en-US" sz="1400" dirty="0"/>
          </a:p>
          <a:p>
            <a:pPr indent="0" marL="0">
              <a:spcBef>
                <a:spcPts val="600"/>
              </a:spcBef>
              <a:buNone/>
            </a:pPr>
            <a:r>
              <a:rPr lang="en-US" sz="1500" dirty="0">
                <a:solidFill>
                  <a:schemeClr val="tx2"/>
                </a:solidFill>
              </a:rPr>
              <a:t>Strong communities (modularity 0.868) that are scenes, not genres.</a:t>
            </a:r>
            <a:endParaRPr lang="en-US" sz="1400" dirty="0"/>
          </a:p>
        </p:txBody>
      </p:sp>
      <p:sp>
        <p:nvSpPr>
          <p:cNvPr id="7" name="Result 3"/>
          <p:cNvSpPr/>
          <p:nvPr/>
        </p:nvSpPr>
        <p:spPr>
          <a:xfrm>
            <a:off x="548640" y="3337560"/>
            <a:ext cx="5410048" cy="1783080"/>
          </a:xfrm>
          <a:prstGeom prst="roundRect">
            <a:avLst>
              <a:gd name="adj" fmla="val 6154"/>
            </a:avLst>
          </a:prstGeom>
          <a:solidFill>
            <a:schemeClr val="bg2"/>
          </a:solidFill>
          <a:ln w="12700">
            <a:solidFill>
              <a:schemeClr val="bg2"/>
            </a:solidFill>
            <a:prstDash val="solid"/>
          </a:ln>
        </p:spPr>
      </p:sp>
      <p:sp>
        <p:nvSpPr>
          <p:cNvPr id="8" name="Result 3 text"/>
          <p:cNvSpPr txBox="1"/>
          <p:nvPr/>
        </p:nvSpPr>
        <p:spPr>
          <a:xfrm>
            <a:off x="868680" y="3520440"/>
            <a:ext cx="4769968" cy="1417320"/>
          </a:xfrm>
          <a:prstGeom prst="rect">
            <a:avLst/>
          </a:prstGeom>
          <a:noFill/>
          <a:ln/>
        </p:spPr>
        <p:txBody>
          <a:bodyPr wrap="square" lIns="0" tIns="0" rIns="0" bIns="0" rtlCol="0" anchor="t"/>
          <a:lstStyle/>
          <a:p>
            <a:pPr indent="0" marL="0">
              <a:buNone/>
            </a:pPr>
            <a:r>
              <a:rPr lang="en-US" sz="1400" b="1" dirty="0">
                <a:solidFill>
                  <a:schemeClr val="accent3"/>
                </a:solidFill>
              </a:rPr>
              <a:t>RQ3 Trends</a:t>
            </a:r>
            <a:endParaRPr lang="en-US" sz="1400" dirty="0"/>
          </a:p>
          <a:p>
            <a:pPr indent="0" marL="0">
              <a:spcBef>
                <a:spcPts val="400"/>
              </a:spcBef>
              <a:buNone/>
            </a:pPr>
            <a:r>
              <a:rPr lang="en-US" sz="3200" b="1" dirty="0">
                <a:solidFill>
                  <a:schemeClr val="tx1"/>
                </a:solidFill>
              </a:rPr>
              <a:t>16.0 % → 28.4 %</a:t>
            </a:r>
            <a:endParaRPr lang="en-US" sz="1400" dirty="0"/>
          </a:p>
          <a:p>
            <a:pPr indent="0" marL="0">
              <a:spcBef>
                <a:spcPts val="600"/>
              </a:spcBef>
              <a:buNone/>
            </a:pPr>
            <a:r>
              <a:rPr lang="en-US" sz="1500" dirty="0">
                <a:solidFill>
                  <a:schemeClr val="tx2"/>
                </a:solidFill>
              </a:rPr>
              <a:t>Cross-genre share, 1960s → 2020s; featuring rose to 23.1 % in the 2010s.</a:t>
            </a:r>
            <a:endParaRPr lang="en-US" sz="1400" dirty="0"/>
          </a:p>
        </p:txBody>
      </p:sp>
      <p:sp>
        <p:nvSpPr>
          <p:cNvPr id="9" name="Result 4"/>
          <p:cNvSpPr/>
          <p:nvPr/>
        </p:nvSpPr>
        <p:spPr>
          <a:xfrm>
            <a:off x="6233008" y="3337560"/>
            <a:ext cx="5410048" cy="1783080"/>
          </a:xfrm>
          <a:prstGeom prst="roundRect">
            <a:avLst>
              <a:gd name="adj" fmla="val 6154"/>
            </a:avLst>
          </a:prstGeom>
          <a:solidFill>
            <a:schemeClr val="bg2"/>
          </a:solidFill>
          <a:ln w="12700">
            <a:solidFill>
              <a:schemeClr val="bg2"/>
            </a:solidFill>
            <a:prstDash val="solid"/>
          </a:ln>
        </p:spPr>
      </p:sp>
      <p:sp>
        <p:nvSpPr>
          <p:cNvPr id="10" name="Result 4 text"/>
          <p:cNvSpPr txBox="1"/>
          <p:nvPr/>
        </p:nvSpPr>
        <p:spPr>
          <a:xfrm>
            <a:off x="6553048" y="3520440"/>
            <a:ext cx="4769968" cy="1417320"/>
          </a:xfrm>
          <a:prstGeom prst="rect">
            <a:avLst/>
          </a:prstGeom>
          <a:noFill/>
          <a:ln/>
        </p:spPr>
        <p:txBody>
          <a:bodyPr wrap="square" lIns="0" tIns="0" rIns="0" bIns="0" rtlCol="0" anchor="t"/>
          <a:lstStyle/>
          <a:p>
            <a:pPr indent="0" marL="0">
              <a:buNone/>
            </a:pPr>
            <a:r>
              <a:rPr lang="en-US" sz="1400" b="1" dirty="0">
                <a:solidFill>
                  <a:schemeClr val="accent3"/>
                </a:solidFill>
              </a:rPr>
              <a:t>RQ4 Centrality</a:t>
            </a:r>
            <a:endParaRPr lang="en-US" sz="1400" dirty="0"/>
          </a:p>
          <a:p>
            <a:pPr indent="0" marL="0">
              <a:spcBef>
                <a:spcPts val="400"/>
              </a:spcBef>
              <a:buNone/>
            </a:pPr>
            <a:r>
              <a:rPr lang="en-US" sz="3200" b="1" dirty="0">
                <a:solidFill>
                  <a:schemeClr val="tx1"/>
                </a:solidFill>
              </a:rPr>
              <a:t>Jaccard 0.047</a:t>
            </a:r>
            <a:endParaRPr lang="en-US" sz="1400" dirty="0"/>
          </a:p>
          <a:p>
            <a:pPr indent="0" marL="0">
              <a:spcBef>
                <a:spcPts val="600"/>
              </a:spcBef>
              <a:buNone/>
            </a:pPr>
            <a:r>
              <a:rPr lang="en-US" sz="1500" dirty="0">
                <a:solidFill>
                  <a:schemeClr val="tx2"/>
                </a:solidFill>
              </a:rPr>
              <a:t>Degree and betweenness share almost none of their top 100.</a:t>
            </a:r>
            <a:endParaRPr lang="en-US" sz="1400" dirty="0"/>
          </a:p>
        </p:txBody>
      </p:sp>
      <p:sp>
        <p:nvSpPr>
          <p:cNvPr id="11" name="Architecture band"/>
          <p:cNvSpPr/>
          <p:nvPr/>
        </p:nvSpPr>
        <p:spPr>
          <a:xfrm>
            <a:off x="548640" y="5394960"/>
            <a:ext cx="11094415" cy="731520"/>
          </a:xfrm>
          <a:prstGeom prst="roundRect">
            <a:avLst>
              <a:gd name="adj" fmla="val 15000"/>
            </a:avLst>
          </a:prstGeom>
          <a:solidFill>
            <a:schemeClr val="tx1"/>
          </a:solidFill>
          <a:ln w="12700">
            <a:solidFill>
              <a:schemeClr val="tx1"/>
            </a:solidFill>
            <a:prstDash val="solid"/>
          </a:ln>
        </p:spPr>
      </p:sp>
      <p:sp>
        <p:nvSpPr>
          <p:cNvPr id="12" name="Architecture label"/>
          <p:cNvSpPr txBox="1"/>
          <p:nvPr/>
        </p:nvSpPr>
        <p:spPr>
          <a:xfrm>
            <a:off x="914400" y="5394960"/>
            <a:ext cx="1645920" cy="731520"/>
          </a:xfrm>
          <a:prstGeom prst="rect">
            <a:avLst/>
          </a:prstGeom>
          <a:noFill/>
          <a:ln/>
        </p:spPr>
        <p:txBody>
          <a:bodyPr wrap="square" lIns="0" tIns="0" rIns="0" bIns="0" rtlCol="0" anchor="ctr"/>
          <a:lstStyle/>
          <a:p>
            <a:pPr indent="0" marL="0">
              <a:buNone/>
            </a:pPr>
            <a:r>
              <a:rPr lang="en-US" sz="1600" b="1" dirty="0">
                <a:solidFill>
                  <a:schemeClr val="accent4"/>
                </a:solidFill>
              </a:rPr>
              <a:t>Architecture</a:t>
            </a:r>
            <a:endParaRPr lang="en-US" sz="1600" dirty="0"/>
          </a:p>
        </p:txBody>
      </p:sp>
      <p:sp>
        <p:nvSpPr>
          <p:cNvPr id="13" name="Architecture text"/>
          <p:cNvSpPr txBox="1"/>
          <p:nvPr/>
        </p:nvSpPr>
        <p:spPr>
          <a:xfrm>
            <a:off x="2651760" y="5394960"/>
            <a:ext cx="8625535" cy="731520"/>
          </a:xfrm>
          <a:prstGeom prst="rect">
            <a:avLst/>
          </a:prstGeom>
          <a:noFill/>
          <a:ln/>
        </p:spPr>
        <p:txBody>
          <a:bodyPr wrap="square" lIns="0" tIns="0" rIns="0" bIns="0" rtlCol="0" anchor="ctr"/>
          <a:lstStyle/>
          <a:p>
            <a:pPr indent="0" marL="0">
              <a:buNone/>
            </a:pPr>
            <a:r>
              <a:rPr lang="en-US" sz="1500" dirty="0">
                <a:solidFill>
                  <a:schemeClr val="bg1"/>
                </a:solidFill>
              </a:rPr>
              <a:t>Spark builds the full graph from credits in 385 s on 8 cores · GDS computes PageRank 123× faster than GraphFrames, same top 100</a:t>
            </a:r>
            <a:endParaRPr lang="en-US" sz="1500" dirty="0"/>
          </a:p>
        </p:txBody>
      </p:sp>
      <p:sp>
        <p:nvSpPr>
          <p:cNvPr id="14" name="Source caption"/>
          <p:cNvSpPr txBox="1"/>
          <p:nvPr/>
        </p:nvSpPr>
        <p:spPr>
          <a:xfrm>
            <a:off x="548640" y="6263640"/>
            <a:ext cx="10362895" cy="274320"/>
          </a:xfrm>
          <a:prstGeom prst="rect">
            <a:avLst/>
          </a:prstGeom>
          <a:noFill/>
          <a:ln/>
        </p:spPr>
        <p:txBody>
          <a:bodyPr wrap="square" lIns="0" tIns="0" rIns="0" bIns="0" rtlCol="0" anchor="ctr"/>
          <a:lstStyle/>
          <a:p>
            <a:pPr indent="0" marL="0">
              <a:buNone/>
            </a:pPr>
            <a:r>
              <a:rPr lang="en-US" sz="1100" dirty="0">
                <a:solidFill>
                  <a:schemeClr val="tx2"/>
                </a:solidFill>
              </a:rPr>
              <a:t>Limits: genre tags cover 22 % of artists · spoken word still in the graph · one machine · full report and code in the repository</a:t>
            </a:r>
            <a:endParaRPr lang="en-US" sz="1100" dirty="0"/>
          </a:p>
        </p:txBody>
      </p:sp>
      <p:sp>
        <p:nvSpPr>
          <p:cNvPr id="25" name="Slide Number Placeholder 0"/>
          <p:cNvSpPr>
            <a:spLocks noGrp="1"/>
          </p:cNvSpPr>
          <p:nvPr>
            <p:ph type="sldNum" sz="quarter" idx="4294967295"/>
          </p:nvPr>
        </p:nvSpPr>
        <p:spPr>
          <a:xfrm>
            <a:off x="11094415" y="626364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Musin">
  <a:themeElements>
    <a:clrScheme name="Musin">
      <a:dk1>
        <a:srgbClr val="14213D"/>
      </a:dk1>
      <a:lt1>
        <a:srgbClr val="FFFFFF"/>
      </a:lt1>
      <a:dk2>
        <a:srgbClr val="3D4A5C"/>
      </a:dk2>
      <a:lt2>
        <a:srgbClr val="EEF1F5"/>
      </a:lt2>
      <a:accent1>
        <a:srgbClr val="2A78D6"/>
      </a:accent1>
      <a:accent2>
        <a:srgbClr val="EB6834"/>
      </a:accent2>
      <a:accent3>
        <a:srgbClr val="1C5CAB"/>
      </a:accent3>
      <a:accent4>
        <a:srgbClr val="F2A27E"/>
      </a:accent4>
      <a:accent5>
        <a:srgbClr val="1BAF7A"/>
      </a:accent5>
      <a:accent6>
        <a:srgbClr val="EDA100"/>
      </a:accent6>
      <a:hlink>
        <a:srgbClr val="1C5CAB"/>
      </a:hlink>
      <a:folHlink>
        <a:srgbClr val="6250D6"/>
      </a:folHlink>
    </a:clrScheme>
    <a:fontScheme name="Mus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Musin — Bridging Genres</dc:title>
  <dc:subject>PptxGenJS Presentation</dc:subject>
  <dc:creator>Musin team</dc:creator>
  <cp:lastModifiedBy>Musin team</cp:lastModifiedBy>
  <cp:revision>1</cp:revision>
  <dcterms:created xsi:type="dcterms:W3CDTF">2026-10-20T12:47:59Z</dcterms:created>
  <dcterms:modified xsi:type="dcterms:W3CDTF">2026-10-20T12:47:59Z</dcterms:modified>
</cp:coreProperties>
</file>